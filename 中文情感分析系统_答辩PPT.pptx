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C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中文情感分析系统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DEFB"/>
                </a:solidFill>
              </a:defRPr>
            </a:pPr>
            <a:r>
              <a:t>基于 RNN / LSTM / Attention-LSTM / Transformer / BERT 的多模型对比研究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657600"/>
            <a:ext cx="3931920" cy="254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</a:defRPr>
            </a:pPr>
            <a:r>
              <a:t>课程：自然语言处理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</a:defRPr>
            </a:pPr>
            <a:r>
              <a:t>GitHub: github.com/wusanc/NLP_Sentiment_Analysis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</a:defRPr>
            </a:pPr>
            <a:r>
              <a:t>目录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371600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3533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02C39"/>
                </a:solidFill>
              </a:defRPr>
            </a:pPr>
            <a:r>
              <a:t>项目概述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194560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762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02C39"/>
                </a:solidFill>
              </a:defRPr>
            </a:pPr>
            <a:r>
              <a:t>数据集与预处理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992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02C39"/>
                </a:solidFill>
              </a:defRPr>
            </a:pPr>
            <a:r>
              <a:t>模型架构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840480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8221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02C39"/>
                </a:solidFill>
              </a:defRPr>
            </a:pPr>
            <a:r>
              <a:t>实验设置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663440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6451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02C39"/>
                </a:solidFill>
              </a:defRPr>
            </a:pPr>
            <a:r>
              <a:t>实验结果与分析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5486400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4681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02C39"/>
                </a:solidFill>
              </a:defRPr>
            </a:pPr>
            <a:r>
              <a:t>总结与展望</a:t>
            </a:r>
          </a:p>
        </p:txBody>
      </p:sp>
      <p:pic>
        <p:nvPicPr>
          <p:cNvPr id="15" name="Picture 14" descr="model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576072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</a:defRPr>
            </a:pPr>
            <a:r>
              <a:t>01  项目概述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02C39"/>
                </a:solidFill>
              </a:defRPr>
            </a:pPr>
            <a:r>
              <a:t>研究背景与目标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02C39"/>
                </a:solidFill>
              </a:defRPr>
            </a:pPr>
            <a:r>
              <a:t>• 情感分析是NLP核心任务，广泛应用于舆情监控、商品评价</a:t>
            </a:r>
          </a:p>
          <a:p>
            <a:pPr>
              <a:spcAft>
                <a:spcPts val="500"/>
              </a:spcAft>
              <a:defRPr sz="1500">
                <a:solidFill>
                  <a:srgbClr val="202C39"/>
                </a:solidFill>
              </a:defRPr>
            </a:pPr>
            <a:r>
              <a:t>• 中文缺乏天然分词边界，增加分析难度</a:t>
            </a:r>
          </a:p>
          <a:p>
            <a:pPr>
              <a:spcAft>
                <a:spcPts val="500"/>
              </a:spcAft>
              <a:defRPr sz="1500">
                <a:solidFill>
                  <a:srgbClr val="202C39"/>
                </a:solidFill>
              </a:defRPr>
            </a:pPr>
            <a:r>
              <a:t>• 从RNN到BERT，模型架构不断演进</a:t>
            </a:r>
          </a:p>
          <a:p>
            <a:pPr>
              <a:spcAft>
                <a:spcPts val="500"/>
              </a:spcAft>
              <a:defRPr sz="1500">
                <a:solidFill>
                  <a:srgbClr val="202C39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202C39"/>
                </a:solidFill>
              </a:defRPr>
            </a:pPr>
            <a:r>
              <a:t>研究目标:</a:t>
            </a:r>
          </a:p>
          <a:p>
            <a:pPr>
              <a:spcAft>
                <a:spcPts val="500"/>
              </a:spcAft>
              <a:defRPr sz="1500">
                <a:solidFill>
                  <a:srgbClr val="202C39"/>
                </a:solidFill>
              </a:defRPr>
            </a:pPr>
            <a:r>
              <a:t>• 实现并对比五种深度学习模型</a:t>
            </a:r>
          </a:p>
          <a:p>
            <a:pPr>
              <a:spcAft>
                <a:spcPts val="500"/>
              </a:spcAft>
              <a:defRPr sz="1500">
                <a:solidFill>
                  <a:srgbClr val="202C39"/>
                </a:solidFill>
              </a:defRPr>
            </a:pPr>
            <a:r>
              <a:t>• 探索注意力机制和预训练模型的提升效果</a:t>
            </a:r>
          </a:p>
          <a:p>
            <a:pPr>
              <a:spcAft>
                <a:spcPts val="500"/>
              </a:spcAft>
              <a:defRPr sz="1500">
                <a:solidFill>
                  <a:srgbClr val="202C39"/>
                </a:solidFill>
              </a:defRPr>
            </a:pPr>
            <a:r>
              <a:t>• 构建完整的预处理→训练→评估→可视化流程</a:t>
            </a:r>
          </a:p>
        </p:txBody>
      </p:sp>
      <p:pic>
        <p:nvPicPr>
          <p:cNvPr id="5" name="Picture 4" descr="tex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3200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4846320"/>
            <a:ext cx="2560320" cy="7772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4846320"/>
            <a:ext cx="54864" cy="77724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49194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任务类型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212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A853"/>
                </a:solidFill>
              </a:defRPr>
            </a:pPr>
            <a:r>
              <a:t>文本三分类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4846320"/>
            <a:ext cx="2560320" cy="7772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0" y="4846320"/>
            <a:ext cx="54864" cy="77724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49194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数据集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5212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</a:defRPr>
            </a:pPr>
            <a:r>
              <a:t>ChnSentiCorp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5760720"/>
            <a:ext cx="2560320" cy="7772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5760720"/>
            <a:ext cx="54864" cy="77724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58338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模型数量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126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C27B0"/>
                </a:solidFill>
              </a:defRPr>
            </a:pPr>
            <a:r>
              <a:t>5种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5760720"/>
            <a:ext cx="2560320" cy="7772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61120" y="5760720"/>
            <a:ext cx="54864" cy="7772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58338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团队规模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6126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</a:defRPr>
            </a:pPr>
            <a:r>
              <a:t>3人协作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</a:defRPr>
            </a:pPr>
            <a:r>
              <a:t>02  数据集与预处理</a:t>
            </a:r>
          </a:p>
        </p:txBody>
      </p:sp>
      <p:pic>
        <p:nvPicPr>
          <p:cNvPr id="3" name="Picture 2" descr="data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40080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297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C39"/>
                </a:solidFill>
              </a:defRPr>
            </a:pPr>
            <a:r>
              <a:t>预处理流程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46320"/>
            <a:ext cx="1188720" cy="10972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0749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jieba</a:t>
            </a:r>
            <a:br/>
            <a:r>
              <a:t>中文分词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938528" y="5212080"/>
            <a:ext cx="228600" cy="18288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94560" y="4846320"/>
            <a:ext cx="1188720" cy="10972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50749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文本清洗</a:t>
            </a:r>
            <a:br/>
            <a:r>
              <a:t>(去特殊字符)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401568" y="5212080"/>
            <a:ext cx="228600" cy="18288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0" y="4846320"/>
            <a:ext cx="1188720" cy="10972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50749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词表构建</a:t>
            </a:r>
            <a:br/>
            <a:r>
              <a:t>(30,000词)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64608" y="5212080"/>
            <a:ext cx="228600" cy="18288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0" y="4846320"/>
            <a:ext cx="1188720" cy="10972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50749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Word2Vec</a:t>
            </a:r>
            <a:br/>
            <a:r>
              <a:t>词向量训练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4297680"/>
            <a:ext cx="4572000" cy="21031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4434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C39"/>
                </a:solidFill>
              </a:defRPr>
            </a:pPr>
            <a:r>
              <a:t>Word2Vec 参数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84632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02C39"/>
                </a:solidFill>
              </a:defRPr>
            </a:pPr>
            <a:r>
              <a:t>• 向量维度: 128</a:t>
            </a:r>
          </a:p>
          <a:p>
            <a:pPr>
              <a:spcAft>
                <a:spcPts val="300"/>
              </a:spcAft>
              <a:defRPr sz="1300">
                <a:solidFill>
                  <a:srgbClr val="202C39"/>
                </a:solidFill>
              </a:defRPr>
            </a:pPr>
            <a:r>
              <a:t>• 窗口大小: 5 | 最小词频: 1</a:t>
            </a:r>
          </a:p>
          <a:p>
            <a:pPr>
              <a:spcAft>
                <a:spcPts val="300"/>
              </a:spcAft>
              <a:defRPr sz="1300">
                <a:solidFill>
                  <a:srgbClr val="202C39"/>
                </a:solidFill>
              </a:defRPr>
            </a:pPr>
            <a:r>
              <a:t>• 算法: Skip-gram | 轮数: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</a:defRPr>
            </a:pPr>
            <a:r>
              <a:t>03  模型架构对比</a:t>
            </a:r>
          </a:p>
        </p:txBody>
      </p:sp>
      <p:pic>
        <p:nvPicPr>
          <p:cNvPr id="3" name="Picture 2" descr="model_architec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</a:defRPr>
            </a:pPr>
            <a:r>
              <a:t>从左到右: 模型复杂度递增，表示能力逐步增强。BERT通过大规模预训练获得强大的中文语言理解能力。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</a:defRPr>
            </a:pPr>
            <a:r>
              <a:t>03  基础模型 — RNN / LSTM (成员1)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47548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07D8B"/>
                </a:solidFill>
              </a:defRPr>
            </a:pPr>
            <a:r>
              <a:t>RNN 文本分类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架构: Embedding → RNN → Dropout → FC → Softmax</a:t>
            </a: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• 基础循环神经网络，按时间步展开</a:t>
            </a: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• 隐藏层维度: 128</a:t>
            </a: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• 输出: 最后时间步隐藏状态</a:t>
            </a: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优点: 结构简单，计算量小</a:t>
            </a: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缺点: 长距离依赖(梯度消失)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88"/>
                </a:solidFill>
              </a:defRPr>
            </a:pPr>
            <a:r>
              <a:t>LSTM 文本分类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架构: Embedding → BiLSTM → Dropout → FC → Softmax</a:t>
            </a: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• 双向LSTM，捕获前后文信息</a:t>
            </a: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• 隐藏层维度: 128 (双向=256)</a:t>
            </a: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• 门控: 遗忘门/输入门/输出门</a:t>
            </a: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优点: 有效缓解梯度消失</a:t>
            </a: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缺点: 无法建模长距离依赖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73E8"/>
                </a:solidFill>
              </a:defRPr>
            </a:pPr>
            <a:r>
              <a:t>03  高级模型 — Attention-LSTM / Transformer (成员2)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47548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800"/>
                </a:solidFill>
              </a:defRPr>
            </a:pPr>
            <a:r>
              <a:t>Attention-LSTM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架构: Embedding → BiLSTM → Attention → FC → Softmax</a:t>
            </a: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• 在BiLSTM基础上加入自注意力机制</a:t>
            </a: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• 注意力: tanh(Linear(h)) → softmax</a:t>
            </a: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• 自适应加权不同时间步的隐藏状态</a:t>
            </a: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优点: 聚焦关键信息，提升分类精度</a:t>
            </a: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保留序列建模能力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C27B0"/>
                </a:solidFill>
              </a:defRPr>
            </a:pPr>
            <a:r>
              <a:t>Transformer 分类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架构: Embedding → PosEnc → TransformerEncoder → Pool → FC</a:t>
            </a: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• 多头自注意力: 4头, 2层编码器</a:t>
            </a: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• 正弦位置编码保留位置信息</a:t>
            </a: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• Mean Pooling聚合序列信息</a:t>
            </a: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优点: 并行计算，全局注意力</a:t>
            </a: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缺点: 需要较多数据训练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</a:defRPr>
            </a:pPr>
            <a:r>
              <a:t>03  BERT 微调模型 (成员3)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47548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4335"/>
                </a:solidFill>
              </a:defRPr>
            </a:pPr>
            <a:r>
              <a:t>bert-base-chinese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02C39"/>
                </a:solidFill>
              </a:defRPr>
            </a:pPr>
            <a:r>
              <a:t>模型配置:</a:t>
            </a:r>
          </a:p>
          <a:p>
            <a:pPr>
              <a:spcAft>
                <a:spcPts val="400"/>
              </a:spcAft>
              <a:defRPr sz="1500">
                <a:solidFill>
                  <a:srgbClr val="202C39"/>
                </a:solidFill>
              </a:defRPr>
            </a:pPr>
            <a:r>
              <a:t>• 参数量: 102M (12层, 768隐层, 12头)</a:t>
            </a:r>
          </a:p>
          <a:p>
            <a:pPr>
              <a:spcAft>
                <a:spcPts val="400"/>
              </a:spcAft>
              <a:defRPr sz="1500">
                <a:solidFill>
                  <a:srgbClr val="202C39"/>
                </a:solidFill>
              </a:defRPr>
            </a:pPr>
            <a:r>
              <a:t>• 词表: 21,128个中文token</a:t>
            </a:r>
          </a:p>
          <a:p>
            <a:pPr>
              <a:spcAft>
                <a:spcPts val="400"/>
              </a:spcAft>
              <a:defRPr sz="1500">
                <a:solidFill>
                  <a:srgbClr val="202C39"/>
                </a:solidFill>
              </a:defRPr>
            </a:pPr>
            <a:r>
              <a:t>• 最大序列长度: 128</a:t>
            </a:r>
          </a:p>
          <a:p>
            <a:pPr>
              <a:spcAft>
                <a:spcPts val="400"/>
              </a:spcAft>
              <a:defRPr sz="1500">
                <a:solidFill>
                  <a:srgbClr val="202C39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02C39"/>
                </a:solidFill>
              </a:defRPr>
            </a:pPr>
            <a:r>
              <a:t>微调策略:</a:t>
            </a:r>
          </a:p>
          <a:p>
            <a:pPr>
              <a:spcAft>
                <a:spcPts val="400"/>
              </a:spcAft>
              <a:defRPr sz="1500">
                <a:solidFill>
                  <a:srgbClr val="202C39"/>
                </a:solidFill>
              </a:defRPr>
            </a:pPr>
            <a:r>
              <a:t>• [CLS]token输出 → Dropout → FC(768→3)</a:t>
            </a:r>
          </a:p>
          <a:p>
            <a:pPr>
              <a:spcAft>
                <a:spcPts val="400"/>
              </a:spcAft>
              <a:defRPr sz="1500">
                <a:solidFill>
                  <a:srgbClr val="202C39"/>
                </a:solidFill>
              </a:defRPr>
            </a:pPr>
            <a:r>
              <a:t>• AdamW优化器, lr=2e-5</a:t>
            </a:r>
          </a:p>
          <a:p>
            <a:pPr>
              <a:spcAft>
                <a:spcPts val="400"/>
              </a:spcAft>
              <a:defRPr sz="1500">
                <a:solidFill>
                  <a:srgbClr val="202C39"/>
                </a:solidFill>
              </a:defRPr>
            </a:pPr>
            <a:r>
              <a:t>• 余弦退火学习率调度</a:t>
            </a:r>
          </a:p>
          <a:p>
            <a:pPr>
              <a:spcAft>
                <a:spcPts val="400"/>
              </a:spcAft>
              <a:defRPr sz="1500">
                <a:solidFill>
                  <a:srgbClr val="202C39"/>
                </a:solidFill>
              </a:defRPr>
            </a:pPr>
            <a:r>
              <a:t>• 3个epoch训练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4335"/>
                </a:solidFill>
              </a:defRPr>
            </a:pPr>
            <a:r>
              <a:t>BERT核心优势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• 双向上下文编码 (Bidirectional)</a:t>
            </a: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• Masked Language Model预训练</a:t>
            </a: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• 深度双向Transformer架构</a:t>
            </a: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• 强大的中文语言理解能力</a:t>
            </a: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vs 传统模型:</a:t>
            </a: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• 不需要Word2Vec外部词向量</a:t>
            </a: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• 自带BertTokenizer分词器</a:t>
            </a: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• 字级别处理，无需分词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</a:defRPr>
            </a:pPr>
            <a:r>
              <a:t>项目系统架构</a:t>
            </a:r>
          </a:p>
        </p:txBody>
      </p:sp>
      <p:pic>
        <p:nvPicPr>
          <p:cNvPr id="3" name="Picture 2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</a:defRPr>
            </a:pPr>
            <a:r>
              <a:t>04  实验设置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02C39"/>
                </a:solidFill>
              </a:defRPr>
            </a:pPr>
            <a:r>
              <a:t>通用训练参数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优化器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920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C39"/>
                </a:solidFill>
              </a:defRPr>
            </a:pPr>
            <a:r>
              <a:t>Adam / AdamW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591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学习率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359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C39"/>
                </a:solidFill>
              </a:defRPr>
            </a:pPr>
            <a:r>
              <a:t>1e-3 (传统模型) / 2e-5 (BERT)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980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批大小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79806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C39"/>
                </a:solidFill>
              </a:defRPr>
            </a:pPr>
            <a:r>
              <a:t>64 (传统模型) / 32 (BERT)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369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训练轮数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2369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C39"/>
                </a:solidFill>
              </a:defRPr>
            </a:pPr>
            <a:r>
              <a:t>10 (传统模型) / 3 (BERT)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7588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梯度裁剪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67588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C39"/>
                </a:solidFill>
              </a:defRPr>
            </a:pPr>
            <a:r>
              <a:t>max_norm=1.0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损失函数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C39"/>
                </a:solidFill>
              </a:defRPr>
            </a:pPr>
            <a:r>
              <a:t>CrossEntropyLoss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537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评估指标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5537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C39"/>
                </a:solidFill>
              </a:defRPr>
            </a:pPr>
            <a:r>
              <a:t>Accuracy / Precision / Recall / F1 (Macro)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371600"/>
            <a:ext cx="5029200" cy="47548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02C39"/>
                </a:solidFill>
              </a:defRPr>
            </a:pPr>
            <a:r>
              <a:t>实验环境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• GPU: NVIDIA RTX 4060 Laptop (8GB)</a:t>
            </a: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• PyTorch 2.12.1 + CUDA 12.6</a:t>
            </a: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• Python 3.13</a:t>
            </a: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• transformers 4.30+</a:t>
            </a: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• jieba 中文分词</a:t>
            </a: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• gensim Word2Vec</a:t>
            </a: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• scikit-learn 评估指标</a:t>
            </a:r>
          </a:p>
          <a:p>
            <a:pPr>
              <a:spcAft>
                <a:spcPts val="400"/>
              </a:spcAft>
              <a:defRPr sz="1400">
                <a:solidFill>
                  <a:srgbClr val="202C39"/>
                </a:solidFill>
              </a:defRPr>
            </a:pPr>
            <a:r>
              <a:t>• matplotlib / seaborn 可视化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</a:defRPr>
            </a:pPr>
            <a:r>
              <a:t>05  实验结果与分析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C39"/>
                </a:solidFill>
              </a:defRPr>
            </a:pPr>
            <a:r>
              <a:t>各模型性能对比 (三分类任务)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737360"/>
            <a:ext cx="2011680" cy="4572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737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模型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737360"/>
            <a:ext cx="1645920" cy="4572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737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737360"/>
            <a:ext cx="1645920" cy="4572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737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37360"/>
            <a:ext cx="1645920" cy="4572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737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737360"/>
            <a:ext cx="1645920" cy="4572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737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2286000"/>
            <a:ext cx="8595360" cy="5486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07D8B"/>
                </a:solidFill>
              </a:defRPr>
            </a:pPr>
            <a:r>
              <a:t>RNN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377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02C39"/>
                </a:solidFill>
              </a:defRPr>
            </a:pPr>
            <a: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377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02C39"/>
                </a:solidFill>
              </a:defRPr>
            </a:pPr>
            <a: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377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02C39"/>
                </a:solidFill>
              </a:defRPr>
            </a:pPr>
            <a: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377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02C39"/>
                </a:solidFill>
              </a:defRPr>
            </a:pPr>
            <a:r>
              <a:t>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2926080"/>
            <a:ext cx="859536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9688"/>
                </a:solidFill>
              </a:defRPr>
            </a:pPr>
            <a:r>
              <a:t>LSTM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017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02C39"/>
                </a:solidFill>
              </a:defRPr>
            </a:pPr>
            <a: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017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02C39"/>
                </a:solidFill>
              </a:defRPr>
            </a:pPr>
            <a: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017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02C39"/>
                </a:solidFill>
              </a:defRPr>
            </a:pPr>
            <a: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017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02C39"/>
                </a:solidFill>
              </a:defRPr>
            </a:pPr>
            <a:r>
              <a:t>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0" y="3566160"/>
            <a:ext cx="8595360" cy="5486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9800"/>
                </a:solidFill>
              </a:defRPr>
            </a:pPr>
            <a:r>
              <a:t>Attention-LSTM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3657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02C39"/>
                </a:solidFill>
              </a:defRPr>
            </a:pPr>
            <a: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657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02C39"/>
                </a:solidFill>
              </a:defRPr>
            </a:pPr>
            <a: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657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02C39"/>
                </a:solidFill>
              </a:defRPr>
            </a:pPr>
            <a: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657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02C39"/>
                </a:solidFill>
              </a:defRPr>
            </a:pPr>
            <a:r>
              <a:t>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71600" y="4206240"/>
            <a:ext cx="859536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6304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9C27B0"/>
                </a:solidFill>
              </a:defRPr>
            </a:pPr>
            <a:r>
              <a:t>Transformer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4297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02C39"/>
                </a:solidFill>
              </a:defRPr>
            </a:pPr>
            <a: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297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02C39"/>
                </a:solidFill>
              </a:defRPr>
            </a:pPr>
            <a: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297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02C39"/>
                </a:solidFill>
              </a:defRPr>
            </a:pPr>
            <a: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297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02C39"/>
                </a:solidFill>
              </a:defRPr>
            </a:pPr>
            <a:r>
              <a:t>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71600" y="4846320"/>
            <a:ext cx="8595360" cy="5486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63040" y="4937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A4335"/>
                </a:solidFill>
              </a:defRPr>
            </a:pPr>
            <a:r>
              <a:t>BERT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4937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02C39"/>
                </a:solidFill>
              </a:defRPr>
            </a:pPr>
            <a: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4937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02C39"/>
                </a:solidFill>
              </a:defRPr>
            </a:pPr>
            <a: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4937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02C39"/>
                </a:solidFill>
              </a:defRPr>
            </a:pPr>
            <a: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937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02C39"/>
                </a:solidFill>
              </a:defRPr>
            </a:pPr>
            <a: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训练完成后将实际数值填入此表，结果保存在 results/ 目录下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</a:defRPr>
            </a:pPr>
            <a:r>
              <a:t>05  关键发现与分析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" y="1417320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C39"/>
                </a:solidFill>
              </a:defRPr>
            </a:pPr>
            <a:r>
              <a:t>模型复杂度 vs 性能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783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BERT &gt; Transformer ≈ Attention-LSTM &gt; LSTM &gt; RNN</a:t>
            </a:r>
            <a:br/>
            <a:r>
              <a:t>预训练模型在中文任务上具有显著优势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39"/>
            <a:ext cx="106984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743199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9747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C39"/>
                </a:solidFill>
              </a:defRPr>
            </a:pPr>
            <a:r>
              <a:t>注意力机制的作用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10895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Attention-LSTM相比基础LSTM有明显提升</a:t>
            </a:r>
            <a:br/>
            <a:r>
              <a:t>注意力帮助模型聚焦关键情感词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6984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4069080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C39"/>
                </a:solidFill>
              </a:defRPr>
            </a:pPr>
            <a:r>
              <a:t>Transformer的特点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434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并行计算效率高，全局注意力捕获长距离依赖</a:t>
            </a:r>
            <a:br/>
            <a:r>
              <a:t>但需要更多数据训练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57800"/>
            <a:ext cx="106984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5394960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349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C39"/>
                </a:solidFill>
              </a:defRPr>
            </a:pPr>
            <a:r>
              <a:t>数据增强方向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760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中性类别样本较少(3,650条)</a:t>
            </a:r>
            <a:br/>
            <a:r>
              <a:t>可通过回译、同义词替换进行增强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</a:defRPr>
            </a:pPr>
            <a:r>
              <a:t>06  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02C39"/>
                </a:solidFill>
              </a:defRPr>
            </a:pPr>
            <a:r>
              <a:t>项目总结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02C39"/>
                </a:solidFill>
              </a:defRPr>
            </a:pPr>
            <a:r>
              <a:t>• 实现五种深度学习模型的中文情感分析系统</a:t>
            </a:r>
          </a:p>
          <a:p>
            <a:pPr>
              <a:spcAft>
                <a:spcPts val="600"/>
              </a:spcAft>
              <a:defRPr sz="1500">
                <a:solidFill>
                  <a:srgbClr val="202C39"/>
                </a:solidFill>
              </a:defRPr>
            </a:pPr>
            <a:r>
              <a:t>• 完整的预处理→训练→评估→可视化流程</a:t>
            </a:r>
          </a:p>
          <a:p>
            <a:pPr>
              <a:spcAft>
                <a:spcPts val="600"/>
              </a:spcAft>
              <a:defRPr sz="1500">
                <a:solidFill>
                  <a:srgbClr val="202C39"/>
                </a:solidFill>
              </a:defRPr>
            </a:pPr>
            <a:r>
              <a:t>• BERT预训练模型在三分类任务上表现最优</a:t>
            </a:r>
          </a:p>
          <a:p>
            <a:pPr>
              <a:spcAft>
                <a:spcPts val="600"/>
              </a:spcAft>
              <a:defRPr sz="1500">
                <a:solidFill>
                  <a:srgbClr val="202C39"/>
                </a:solidFill>
              </a:defRPr>
            </a:pPr>
            <a:r>
              <a:t>• 注意力机制有效提升传统LSTM性能</a:t>
            </a:r>
          </a:p>
          <a:p>
            <a:pPr>
              <a:spcAft>
                <a:spcPts val="600"/>
              </a:spcAft>
              <a:defRPr sz="1500">
                <a:solidFill>
                  <a:srgbClr val="202C39"/>
                </a:solidFill>
              </a:defRPr>
            </a:pPr>
            <a:r>
              <a:t>• 3人团队协作，模块化设计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02C39"/>
                </a:solidFill>
              </a:defRPr>
            </a:pPr>
            <a:r>
              <a:t>未来方向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02C39"/>
                </a:solidFill>
              </a:defRPr>
            </a:pPr>
            <a:r>
              <a:t>• 数据增强: 回译、同义词替换</a:t>
            </a:r>
          </a:p>
          <a:p>
            <a:pPr>
              <a:spcAft>
                <a:spcPts val="600"/>
              </a:spcAft>
              <a:defRPr sz="1500">
                <a:solidFill>
                  <a:srgbClr val="202C39"/>
                </a:solidFill>
              </a:defRPr>
            </a:pPr>
            <a:r>
              <a:t>• 模型融合: Stacking/Ensemble</a:t>
            </a:r>
          </a:p>
          <a:p>
            <a:pPr>
              <a:spcAft>
                <a:spcPts val="600"/>
              </a:spcAft>
              <a:defRPr sz="1500">
                <a:solidFill>
                  <a:srgbClr val="202C39"/>
                </a:solidFill>
              </a:defRPr>
            </a:pPr>
            <a:r>
              <a:t>• 更大预训练模型: RoBERTa-wwm-ext</a:t>
            </a:r>
          </a:p>
          <a:p>
            <a:pPr>
              <a:spcAft>
                <a:spcPts val="600"/>
              </a:spcAft>
              <a:defRPr sz="1500">
                <a:solidFill>
                  <a:srgbClr val="202C39"/>
                </a:solidFill>
              </a:defRPr>
            </a:pPr>
            <a:r>
              <a:t>• 实际应用: 部署为Web API服务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4754880"/>
          </a:xfrm>
          <a:prstGeom prst="roundRect">
            <a:avLst/>
          </a:prstGeom>
          <a:solidFill>
            <a:srgbClr val="202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技术亮点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DEFB"/>
                </a:solidFill>
              </a:defRPr>
            </a:pPr>
            <a:r>
              <a:t>✦  多模型对比实验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788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DEFB"/>
                </a:solidFill>
              </a:defRPr>
            </a:pPr>
            <a:r>
              <a:t>✦  端到端NLP流水线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291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DEFB"/>
                </a:solidFill>
              </a:defRPr>
            </a:pPr>
            <a:r>
              <a:t>✦  GPU加速训练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794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DEFB"/>
                </a:solidFill>
              </a:defRPr>
            </a:pPr>
            <a:r>
              <a:t>✦  注意力机制可视化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4297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DEFB"/>
                </a:solidFill>
              </a:defRPr>
            </a:pPr>
            <a:r>
              <a:t>✦  BERT中文微调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4800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DEFB"/>
                </a:solidFill>
              </a:defRPr>
            </a:pPr>
            <a:r>
              <a:t>✦  完整评估体系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5303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DEFB"/>
                </a:solidFill>
              </a:defRPr>
            </a:pPr>
            <a:r>
              <a:t>✦  模块化团队协作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C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383280"/>
            <a:ext cx="2103120" cy="254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0CAF9"/>
                </a:solidFill>
              </a:defRPr>
            </a:pPr>
            <a:r>
              <a:t>欢迎提问与交流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</a:defRPr>
            </a:pPr>
            <a:r>
              <a:t>GitHub: github.com/wusanc/NLP_Sentiment_Analysis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